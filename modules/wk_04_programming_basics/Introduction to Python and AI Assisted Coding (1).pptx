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nfXw8qwRJDVrkdDjcKjn1N1PR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a9fc66af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a9fc66a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add40e3c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add40e3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2e4680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d2e4680a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a9fc66af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a9fc66af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>
            <p:ph type="ctrTitle"/>
          </p:nvPr>
        </p:nvSpPr>
        <p:spPr>
          <a:xfrm>
            <a:off x="744928" y="3547069"/>
            <a:ext cx="106407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4000">
                <a:solidFill>
                  <a:schemeClr val="dk2"/>
                </a:solidFill>
              </a:rPr>
              <a:t>Introduction to Python and AI Assisted Coding</a:t>
            </a:r>
            <a:endParaRPr/>
          </a:p>
        </p:txBody>
      </p:sp>
      <p:grpSp>
        <p:nvGrpSpPr>
          <p:cNvPr id="87" name="Google Shape;87;p1"/>
          <p:cNvGrpSpPr/>
          <p:nvPr/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8" name="Google Shape;88;p1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6576" y="320231"/>
            <a:ext cx="5157396" cy="28365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"/>
          <p:cNvGrpSpPr/>
          <p:nvPr/>
        </p:nvGrpSpPr>
        <p:grpSpPr>
          <a:xfrm flipH="1" rot="10800000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94" name="Google Shape;94;p1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9fc66af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Goals for this Week</a:t>
            </a:r>
            <a:endParaRPr/>
          </a:p>
        </p:txBody>
      </p:sp>
      <p:sp>
        <p:nvSpPr>
          <p:cNvPr id="103" name="Google Shape;103;g3ba9fc66af0_0_0"/>
          <p:cNvSpPr txBox="1"/>
          <p:nvPr/>
        </p:nvSpPr>
        <p:spPr>
          <a:xfrm>
            <a:off x="198975" y="1931000"/>
            <a:ext cx="6604500" cy="4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chemeClr val="dk1"/>
                </a:solidFill>
              </a:rPr>
              <a:t>Monday February 9th</a:t>
            </a:r>
            <a:endParaRPr b="1" sz="26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Introduction to Using Python</a:t>
            </a:r>
            <a:endParaRPr sz="26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600">
                <a:solidFill>
                  <a:schemeClr val="dk1"/>
                </a:solidFill>
              </a:rPr>
              <a:t>Good Habits/Grammar</a:t>
            </a:r>
            <a:endParaRPr sz="26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600">
                <a:solidFill>
                  <a:schemeClr val="dk1"/>
                </a:solidFill>
              </a:rPr>
              <a:t>Basics</a:t>
            </a:r>
            <a:endParaRPr sz="2600">
              <a:solidFill>
                <a:schemeClr val="dk1"/>
              </a:solidFill>
            </a:endParaRPr>
          </a:p>
          <a:p>
            <a:pPr indent="444500" lvl="0" marL="469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200">
                <a:solidFill>
                  <a:schemeClr val="dk1"/>
                </a:solidFill>
              </a:rPr>
              <a:t>Object Types</a:t>
            </a:r>
            <a:endParaRPr sz="2200">
              <a:solidFill>
                <a:schemeClr val="dk1"/>
              </a:solidFill>
            </a:endParaRPr>
          </a:p>
          <a:p>
            <a:pPr indent="444500" lvl="0" marL="469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200">
                <a:solidFill>
                  <a:schemeClr val="dk1"/>
                </a:solidFill>
              </a:rPr>
              <a:t>Comments</a:t>
            </a:r>
            <a:endParaRPr sz="2200">
              <a:solidFill>
                <a:schemeClr val="dk1"/>
              </a:solidFill>
            </a:endParaRPr>
          </a:p>
          <a:p>
            <a:pPr indent="444500" lvl="0" marL="469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200">
                <a:solidFill>
                  <a:schemeClr val="dk1"/>
                </a:solidFill>
              </a:rPr>
              <a:t>Simple Functions</a:t>
            </a:r>
            <a:endParaRPr sz="2200">
              <a:solidFill>
                <a:schemeClr val="dk1"/>
              </a:solidFill>
            </a:endParaRPr>
          </a:p>
          <a:p>
            <a:pPr indent="444500" lvl="0" marL="469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200">
                <a:solidFill>
                  <a:schemeClr val="dk1"/>
                </a:solidFill>
              </a:rPr>
              <a:t>Variables and Naming Conventions</a:t>
            </a:r>
            <a:endParaRPr sz="22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600">
                <a:solidFill>
                  <a:schemeClr val="dk1"/>
                </a:solidFill>
              </a:rPr>
              <a:t>Formats for Python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  </a:t>
            </a:r>
            <a:endParaRPr/>
          </a:p>
        </p:txBody>
      </p:sp>
      <p:sp>
        <p:nvSpPr>
          <p:cNvPr id="104" name="Google Shape;104;g3ba9fc66af0_0_0"/>
          <p:cNvSpPr txBox="1"/>
          <p:nvPr/>
        </p:nvSpPr>
        <p:spPr>
          <a:xfrm>
            <a:off x="6659050" y="1931000"/>
            <a:ext cx="5141700" cy="3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</a:rPr>
              <a:t>Wednesday February 11th</a:t>
            </a:r>
            <a:endParaRPr b="1" sz="28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Foundational Tools</a:t>
            </a:r>
            <a:endParaRPr sz="28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400">
                <a:solidFill>
                  <a:schemeClr val="dk1"/>
                </a:solidFill>
              </a:rPr>
              <a:t>Lists</a:t>
            </a:r>
            <a:endParaRPr sz="24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400">
                <a:solidFill>
                  <a:schemeClr val="dk1"/>
                </a:solidFill>
              </a:rPr>
              <a:t>Dictionaries</a:t>
            </a:r>
            <a:endParaRPr sz="24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400">
                <a:solidFill>
                  <a:schemeClr val="dk1"/>
                </a:solidFill>
              </a:rPr>
              <a:t>File Handling</a:t>
            </a:r>
            <a:endParaRPr sz="24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400">
                <a:solidFill>
                  <a:schemeClr val="dk1"/>
                </a:solidFill>
              </a:rPr>
              <a:t>Indexing</a:t>
            </a:r>
            <a:endParaRPr sz="2400">
              <a:solidFill>
                <a:schemeClr val="dk1"/>
              </a:solidFill>
            </a:endParaRPr>
          </a:p>
          <a:p>
            <a:pPr indent="444500" lvl="0" marL="12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•</a:t>
            </a:r>
            <a:r>
              <a:rPr lang="en-US" sz="2400">
                <a:solidFill>
                  <a:schemeClr val="dk1"/>
                </a:solidFill>
              </a:rPr>
              <a:t>Loops and Conditions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is Python?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Pythonidae family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~10 species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Native to tropics of Eastern Hemisphere (Africa and Asia)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Constricting snake</a:t>
            </a:r>
            <a:endParaRPr/>
          </a:p>
        </p:txBody>
      </p:sp>
      <p:pic>
        <p:nvPicPr>
          <p:cNvPr descr="22 Facts About Pythons - Hastings Aquarium"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3439" y="0"/>
            <a:ext cx="4238561" cy="282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dd40e3ca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Python - How it Works</a:t>
            </a:r>
            <a:endParaRPr/>
          </a:p>
        </p:txBody>
      </p:sp>
      <p:sp>
        <p:nvSpPr>
          <p:cNvPr id="117" name="Google Shape;117;g3badd40e3ca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every person in the room 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zig-zagging starting from the person in the left corner closest to me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Say Your Name and your department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If your name starts with a vowel - clap your hands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If your name starts with a consonant - snap your fingers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If you are not in the wrong class, please let me know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d2e4680af_0_13"/>
          <p:cNvSpPr txBox="1"/>
          <p:nvPr>
            <p:ph type="title"/>
          </p:nvPr>
        </p:nvSpPr>
        <p:spPr>
          <a:xfrm>
            <a:off x="0" y="-2164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is Python-Layers of Abstraction</a:t>
            </a:r>
            <a:endParaRPr/>
          </a:p>
        </p:txBody>
      </p:sp>
      <p:cxnSp>
        <p:nvCxnSpPr>
          <p:cNvPr id="123" name="Google Shape;123;g3bd2e4680af_0_13"/>
          <p:cNvCxnSpPr/>
          <p:nvPr/>
        </p:nvCxnSpPr>
        <p:spPr>
          <a:xfrm rot="10800000">
            <a:off x="10496734" y="1201674"/>
            <a:ext cx="0" cy="5346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" name="Google Shape;124;g3bd2e4680af_0_13"/>
          <p:cNvCxnSpPr/>
          <p:nvPr/>
        </p:nvCxnSpPr>
        <p:spPr>
          <a:xfrm>
            <a:off x="10880229" y="1201675"/>
            <a:ext cx="0" cy="5431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25" name="Google Shape;125;g3bd2e4680af_0_13"/>
          <p:cNvPicPr preferRelativeResize="0"/>
          <p:nvPr/>
        </p:nvPicPr>
        <p:blipFill rotWithShape="1">
          <a:blip r:embed="rId3">
            <a:alphaModFix/>
          </a:blip>
          <a:srcRect b="0" l="6367" r="0" t="0"/>
          <a:stretch/>
        </p:blipFill>
        <p:spPr>
          <a:xfrm>
            <a:off x="1291475" y="1195450"/>
            <a:ext cx="6717325" cy="544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. Python Interpreter - Introduction" id="130" name="Google Shape;130;p3"/>
          <p:cNvPicPr preferRelativeResize="0"/>
          <p:nvPr/>
        </p:nvPicPr>
        <p:blipFill rotWithShape="1">
          <a:blip r:embed="rId3">
            <a:alphaModFix/>
          </a:blip>
          <a:srcRect b="10040" l="0" r="3938" t="14974"/>
          <a:stretch/>
        </p:blipFill>
        <p:spPr>
          <a:xfrm>
            <a:off x="4917800" y="1971800"/>
            <a:ext cx="5483501" cy="240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>
            <p:ph type="title"/>
          </p:nvPr>
        </p:nvSpPr>
        <p:spPr>
          <a:xfrm>
            <a:off x="0" y="-2164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is Python – Interpreted Languages</a:t>
            </a:r>
            <a:endParaRPr/>
          </a:p>
        </p:txBody>
      </p:sp>
      <p:grpSp>
        <p:nvGrpSpPr>
          <p:cNvPr id="132" name="Google Shape;132;p3"/>
          <p:cNvGrpSpPr/>
          <p:nvPr/>
        </p:nvGrpSpPr>
        <p:grpSpPr>
          <a:xfrm>
            <a:off x="0" y="828768"/>
            <a:ext cx="7330833" cy="6329504"/>
            <a:chOff x="0" y="828768"/>
            <a:chExt cx="7330833" cy="6329504"/>
          </a:xfrm>
        </p:grpSpPr>
        <p:sp>
          <p:nvSpPr>
            <p:cNvPr id="133" name="Google Shape;133;p3"/>
            <p:cNvSpPr/>
            <p:nvPr/>
          </p:nvSpPr>
          <p:spPr>
            <a:xfrm>
              <a:off x="0" y="828768"/>
              <a:ext cx="7162970" cy="6029232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" name="Google Shape;134;p3"/>
            <p:cNvCxnSpPr/>
            <p:nvPr/>
          </p:nvCxnSpPr>
          <p:spPr>
            <a:xfrm>
              <a:off x="355599" y="6259905"/>
              <a:ext cx="6488251" cy="273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5" name="Google Shape;135;p3"/>
            <p:cNvSpPr txBox="1"/>
            <p:nvPr/>
          </p:nvSpPr>
          <p:spPr>
            <a:xfrm>
              <a:off x="2192087" y="1856287"/>
              <a:ext cx="2694000" cy="25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Visual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Drag-and-Drop Programming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" name="Google Shape;136;p3"/>
            <p:cNvCxnSpPr/>
            <p:nvPr/>
          </p:nvCxnSpPr>
          <p:spPr>
            <a:xfrm>
              <a:off x="2387599" y="2835291"/>
              <a:ext cx="238125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3"/>
            <p:cNvCxnSpPr/>
            <p:nvPr/>
          </p:nvCxnSpPr>
          <p:spPr>
            <a:xfrm>
              <a:off x="1672166" y="4051278"/>
              <a:ext cx="381748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3"/>
            <p:cNvCxnSpPr/>
            <p:nvPr/>
          </p:nvCxnSpPr>
          <p:spPr>
            <a:xfrm flipH="1" rot="10800000">
              <a:off x="1211050" y="4792398"/>
              <a:ext cx="4723024" cy="905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3"/>
            <p:cNvCxnSpPr/>
            <p:nvPr/>
          </p:nvCxnSpPr>
          <p:spPr>
            <a:xfrm flipH="1" rot="10800000">
              <a:off x="736589" y="5588421"/>
              <a:ext cx="5677677" cy="3135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0" name="Google Shape;140;p3"/>
            <p:cNvSpPr txBox="1"/>
            <p:nvPr/>
          </p:nvSpPr>
          <p:spPr>
            <a:xfrm>
              <a:off x="869489" y="6234942"/>
              <a:ext cx="60960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Binary Code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1866222" y="6586826"/>
              <a:ext cx="39723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00000001010011100101000101010110</a:t>
              </a:r>
              <a:endParaRPr/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573933" y="5588421"/>
              <a:ext cx="6756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Machine Code (Hexadecimal)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0x014E5156</a:t>
              </a: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804377" y="4936450"/>
              <a:ext cx="60960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Assembly Code (Intel X86)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$t2 $t6 $t2</a:t>
              </a:r>
              <a:b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685833" y="4140341"/>
              <a:ext cx="6096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Compiled Language (C, C++)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t2 = t6 + t2</a:t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573933" y="2860445"/>
              <a:ext cx="6096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Interpreted Language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pic>
          <p:nvPicPr>
            <p:cNvPr id="146" name="Google Shape;14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4445" y="1557004"/>
              <a:ext cx="389388" cy="380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61792" y="3151879"/>
              <a:ext cx="720283" cy="696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13203" y="3232017"/>
              <a:ext cx="594356" cy="568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60872" y="3227364"/>
              <a:ext cx="770546" cy="64633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0" name="Google Shape;150;p3"/>
          <p:cNvCxnSpPr/>
          <p:nvPr/>
        </p:nvCxnSpPr>
        <p:spPr>
          <a:xfrm rot="10800000">
            <a:off x="10496734" y="1201675"/>
            <a:ext cx="0" cy="5346599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" name="Google Shape;151;p3"/>
          <p:cNvCxnSpPr/>
          <p:nvPr/>
        </p:nvCxnSpPr>
        <p:spPr>
          <a:xfrm>
            <a:off x="10880229" y="1201675"/>
            <a:ext cx="0" cy="5431387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3"/>
          <p:cNvSpPr txBox="1"/>
          <p:nvPr/>
        </p:nvSpPr>
        <p:spPr>
          <a:xfrm>
            <a:off x="8090700" y="875279"/>
            <a:ext cx="269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Friendliness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10204159" y="5889268"/>
            <a:ext cx="2694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 txBox="1"/>
          <p:nvPr>
            <p:ph type="title"/>
          </p:nvPr>
        </p:nvSpPr>
        <p:spPr>
          <a:xfrm>
            <a:off x="78212" y="200025"/>
            <a:ext cx="6646437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Python continues to be</a:t>
            </a:r>
            <a:br>
              <a:rPr lang="en-US"/>
            </a:br>
            <a:r>
              <a:rPr lang="en-US"/>
              <a:t> the most widely used </a:t>
            </a:r>
            <a:br>
              <a:rPr lang="en-US"/>
            </a:br>
            <a:r>
              <a:rPr lang="en-US"/>
              <a:t>general interpreted language</a:t>
            </a:r>
            <a:endParaRPr/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2489" y="0"/>
            <a:ext cx="539951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13" y="2844800"/>
            <a:ext cx="6573552" cy="36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What can you use it for?</a:t>
            </a:r>
            <a:endParaRPr/>
          </a:p>
        </p:txBody>
      </p:sp>
      <p:sp>
        <p:nvSpPr>
          <p:cNvPr id="168" name="Google Shape;168;p5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Data Analysis and Visualization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Backend web development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Apps / Games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Productivity / Automation / Pipelines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Web Scraping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Machine Learning</a:t>
            </a:r>
            <a:endParaRPr sz="2000"/>
          </a:p>
        </p:txBody>
      </p:sp>
      <p:pic>
        <p:nvPicPr>
          <p:cNvPr descr="Robot operating a machine" id="169" name="Google Shape;169;p5"/>
          <p:cNvPicPr preferRelativeResize="0"/>
          <p:nvPr/>
        </p:nvPicPr>
        <p:blipFill rotWithShape="1">
          <a:blip r:embed="rId3">
            <a:alphaModFix/>
          </a:blip>
          <a:srcRect b="1" l="16811" r="14890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a9fc66af0_0_6"/>
          <p:cNvSpPr txBox="1"/>
          <p:nvPr>
            <p:ph idx="1" type="body"/>
          </p:nvPr>
        </p:nvSpPr>
        <p:spPr>
          <a:xfrm>
            <a:off x="0" y="17270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u="sng"/>
              <a:t>USE IT FOR:</a:t>
            </a:r>
            <a:endParaRPr b="1" u="sng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Finding functions you need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Double checking your work, improving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Dealing with errors you cannot solve on your despite trying</a:t>
            </a:r>
            <a:endParaRPr b="1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g3ba9fc66af0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8450" y="4057825"/>
            <a:ext cx="5593551" cy="28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ba9fc66af0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Rules for Chat GPT / Claude/ AI Tools</a:t>
            </a:r>
            <a:endParaRPr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sp>
        <p:nvSpPr>
          <p:cNvPr id="177" name="Google Shape;177;g3ba9fc66af0_0_6"/>
          <p:cNvSpPr txBox="1"/>
          <p:nvPr/>
        </p:nvSpPr>
        <p:spPr>
          <a:xfrm>
            <a:off x="5812097" y="3616253"/>
            <a:ext cx="667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*Remember the Butlerian Jihad*</a:t>
            </a:r>
            <a:endParaRPr b="1" sz="2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8" name="Google Shape;178;g3ba9fc66af0_0_6"/>
          <p:cNvSpPr txBox="1"/>
          <p:nvPr/>
        </p:nvSpPr>
        <p:spPr>
          <a:xfrm>
            <a:off x="0" y="4188950"/>
            <a:ext cx="60426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</a:rPr>
              <a:t>DO NOT USE IT FOR:</a:t>
            </a:r>
            <a:endParaRPr b="1" sz="2800" u="sng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</a:rPr>
              <a:t>Errors you have not tried to solve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</a:rPr>
              <a:t>Having it write the code for you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2026-01-16T17:34:58Z</dcterms:created>
  <dc:creator>Alon,Alex</dc:creator>
</cp:coreProperties>
</file>